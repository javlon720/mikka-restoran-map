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【発表原稿（スライド1）】[N3・ます形] ※目安：30秒</a:t>
            </a:r>
          </a:p>
          <a:p>
            <a:r>
              <a:t>はじめまして。アブドゥラエフ・ジャブロンと申します。本日はよろしくお願いいたします。</a:t>
            </a:r>
          </a:p>
          <a:p>
            <a:r>
              <a:t>私のメインの大学は、Japan Digital University（JDU）のコンピューター工学科です。現在5年生で、2026年に卒業する予定です。また、ウズベキスタン世界言語大学でコンピューター言語学も同時に勉強しています。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【発表原稿（スライド2）】[N3・ます形] ※目安：45秒</a:t>
            </a:r>
          </a:p>
          <a:p>
            <a:r>
              <a:t>私のメインの専攻であるJDUでの勉強について説明します。</a:t>
            </a:r>
          </a:p>
          <a:p>
            <a:r>
              <a:t>主にプログラミング、データベース設計、ネットワーク、およびWeb開発について学びました。特にフロントエンドとバックエンドの両方を繋ぐWebの仕組みについて深く学習しています。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【発表原稿（スライド3）】[N3・ます形] ※目安：60秒</a:t>
            </a:r>
          </a:p>
          <a:p>
            <a:r>
              <a:t>私の1つ目の強みは、『自分でWebシステムを作る力』です。</a:t>
            </a:r>
          </a:p>
          <a:p>
            <a:r>
              <a:t>最近のコワーク授業では、レストラン口コミサイト『Mikka（ミッカ）』を開発しました。このアプリは地図から店を探したり、GeminiのAIチャットでおすすめを聞いたりできます。TypeScriptやPostgreSQLを使い、セキュリティ設計まで一人で実装を行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【発表原稿（スライド4）】[N3・ます形] ※目安：60秒</a:t>
            </a:r>
          </a:p>
          <a:p>
            <a:r>
              <a:t>2つ目の強みは、『日本語能力とデザインの実務経験』です。</a:t>
            </a:r>
          </a:p>
          <a:p>
            <a:r>
              <a:t>日本語はN3レベルで、JDUではグラフィックデザイナーとして働き、日本のパートナーと日本語で連絡を取りながら、日本向けのTシャツデザインを1,000件以上制作しました。また、日本語の先生として学生に教えた経験もあり、人と協力して仕事をすることが得意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【発表原稿（スライド5）】[N3・ます形] ※目安：30秒</a:t>
            </a:r>
          </a:p>
          <a:p>
            <a:r>
              <a:t>私は、JDUで身につけたWeb開発技術、デザインの実績、精度高く日本語で会話できる能力を活かして、日本のチームで力になりたいと考えています。</a:t>
            </a:r>
          </a:p>
          <a:p>
            <a:r>
              <a:t>本日はお忙しい中、貴重なお時間をいただき本当にありがとうございました。どうぞよろしくお願いいたします。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365760"/>
            <a:ext cx="10332720" cy="731520"/>
          </a:xfrm>
          <a:prstGeom prst="rect">
            <a:avLst/>
          </a:prstGeom>
          <a:noFill/>
        </p:spPr>
        <p:txBody>
          <a:bodyPr wrap="square" lIns="45720" rIns="45720">
            <a:spAutoFit/>
          </a:bodyPr>
          <a:lstStyle/>
          <a:p>
            <a:pPr algn="l">
              <a:defRPr sz="2600" b="1">
                <a:solidFill>
                  <a:srgbClr val="102C57"/>
                </a:solidFill>
                <a:latin typeface="MS Gothic"/>
              </a:defRPr>
            </a:pPr>
            <a:r>
              <a:t>自己紹介 (Self-Introduction)</a:t>
            </a:r>
          </a:p>
        </p:txBody>
      </p:sp>
      <p:sp>
        <p:nvSpPr>
          <p:cNvPr id="3" name="Rectangle 2"/>
          <p:cNvSpPr/>
          <p:nvPr/>
        </p:nvSpPr>
        <p:spPr>
          <a:xfrm>
            <a:off x="914400" y="1005840"/>
            <a:ext cx="10362895" cy="13716"/>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0" y="6400800"/>
            <a:ext cx="1188720" cy="365760"/>
          </a:xfrm>
          <a:prstGeom prst="rect">
            <a:avLst/>
          </a:prstGeom>
          <a:noFill/>
        </p:spPr>
        <p:txBody>
          <a:bodyPr wrap="square" lIns="45720" rIns="45720">
            <a:spAutoFit/>
          </a:bodyPr>
          <a:lstStyle/>
          <a:p>
            <a:pPr algn="r">
              <a:defRPr sz="1000" b="0">
                <a:solidFill>
                  <a:srgbClr val="C8C8C8"/>
                </a:solidFill>
                <a:latin typeface="MS Gothic"/>
              </a:defRPr>
            </a:pPr>
            <a:r>
              <a:t>1 / 5</a:t>
            </a:r>
          </a:p>
        </p:txBody>
      </p:sp>
      <p:sp>
        <p:nvSpPr>
          <p:cNvPr id="5" name="TextBox 4"/>
          <p:cNvSpPr txBox="1"/>
          <p:nvPr/>
        </p:nvSpPr>
        <p:spPr>
          <a:xfrm>
            <a:off x="914400" y="1371600"/>
            <a:ext cx="6400800" cy="4389120"/>
          </a:xfrm>
          <a:prstGeom prst="rect">
            <a:avLst/>
          </a:prstGeom>
          <a:noFill/>
        </p:spPr>
        <p:txBody>
          <a:bodyPr wrap="square" lIns="45720" rIns="45720">
            <a:spAutoFit/>
          </a:bodyPr>
          <a:lstStyle/>
          <a:p>
            <a:pPr algn="l">
              <a:defRPr sz="1800" b="1">
                <a:solidFill>
                  <a:srgbClr val="102C57"/>
                </a:solidFill>
                <a:latin typeface="MS Gothic"/>
              </a:defRPr>
            </a:pPr>
            <a:r>
              <a:t>■ 基本プロフィール</a:t>
            </a:r>
          </a:p>
          <a:p>
            <a:pPr>
              <a:spcBef>
                <a:spcPts val="1000"/>
              </a:spcBef>
              <a:defRPr sz="1300" b="1">
                <a:solidFill>
                  <a:srgbClr val="333333"/>
                </a:solidFill>
                <a:latin typeface="MS Gothic"/>
              </a:defRPr>
            </a:pPr>
            <a:r>
              <a:t>氏名: ジャブロンベク・アブドゥラエフ・シュフラトオグリ</a:t>
            </a:r>
          </a:p>
          <a:p>
            <a:pPr>
              <a:spcBef>
                <a:spcPts val="1000"/>
              </a:spcBef>
              <a:defRPr sz="1300" b="1">
                <a:solidFill>
                  <a:srgbClr val="333333"/>
                </a:solidFill>
                <a:latin typeface="MS Gothic"/>
              </a:defRPr>
            </a:pPr>
            <a:r>
              <a:t>本籍大学 (メイン): Japan Digital University (JDU) コンピューター工学科 5年生</a:t>
            </a:r>
          </a:p>
          <a:p>
            <a:pPr>
              <a:spcBef>
                <a:spcPts val="1000"/>
              </a:spcBef>
              <a:defRPr sz="1300" b="1">
                <a:solidFill>
                  <a:srgbClr val="333333"/>
                </a:solidFill>
                <a:latin typeface="MS Gothic"/>
              </a:defRPr>
            </a:pPr>
            <a:r>
              <a:t>併学大学: ウズベキスタン世界言語大学 コンピューター言語学専攻</a:t>
            </a:r>
          </a:p>
          <a:p>
            <a:pPr>
              <a:spcBef>
                <a:spcPts val="1000"/>
              </a:spcBef>
              <a:defRPr sz="1300" b="1">
                <a:solidFill>
                  <a:srgbClr val="333333"/>
                </a:solidFill>
                <a:latin typeface="MS Gothic"/>
              </a:defRPr>
            </a:pPr>
            <a:r>
              <a:t>年齢: 22歳 (2003年9月18日生まれ)</a:t>
            </a:r>
          </a:p>
          <a:p>
            <a:pPr>
              <a:spcBef>
                <a:spcPts val="1000"/>
              </a:spcBef>
              <a:defRPr sz="1300" b="1">
                <a:solidFill>
                  <a:srgbClr val="333333"/>
                </a:solidFill>
                <a:latin typeface="MS Gothic"/>
              </a:defRPr>
            </a:pPr>
            <a:r>
              <a:t>卒業予定: 2026年</a:t>
            </a:r>
          </a:p>
        </p:txBody>
      </p:sp>
      <p:sp>
        <p:nvSpPr>
          <p:cNvPr id="6" name="Rectangle 5"/>
          <p:cNvSpPr/>
          <p:nvPr/>
        </p:nvSpPr>
        <p:spPr>
          <a:xfrm>
            <a:off x="7772400" y="1371600"/>
            <a:ext cx="3291840" cy="411480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edia__1782806334617.png"/>
          <p:cNvPicPr>
            <a:picLocks noChangeAspect="1"/>
          </p:cNvPicPr>
          <p:nvPr/>
        </p:nvPicPr>
        <p:blipFill>
          <a:blip r:embed="rId2"/>
          <a:stretch>
            <a:fillRect/>
          </a:stretch>
        </p:blipFill>
        <p:spPr>
          <a:xfrm>
            <a:off x="7863840" y="1463040"/>
            <a:ext cx="3108960" cy="39319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365760"/>
            <a:ext cx="10332720" cy="731520"/>
          </a:xfrm>
          <a:prstGeom prst="rect">
            <a:avLst/>
          </a:prstGeom>
          <a:noFill/>
        </p:spPr>
        <p:txBody>
          <a:bodyPr wrap="square" lIns="45720" rIns="45720">
            <a:spAutoFit/>
          </a:bodyPr>
          <a:lstStyle/>
          <a:p>
            <a:pPr algn="l">
              <a:defRPr sz="2600" b="1">
                <a:solidFill>
                  <a:srgbClr val="102C57"/>
                </a:solidFill>
                <a:latin typeface="MS Gothic"/>
              </a:defRPr>
            </a:pPr>
            <a:r>
              <a:t>JDUでの学習内容</a:t>
            </a:r>
          </a:p>
        </p:txBody>
      </p:sp>
      <p:sp>
        <p:nvSpPr>
          <p:cNvPr id="3" name="Rectangle 2"/>
          <p:cNvSpPr/>
          <p:nvPr/>
        </p:nvSpPr>
        <p:spPr>
          <a:xfrm>
            <a:off x="914400" y="1005840"/>
            <a:ext cx="10362895" cy="13716"/>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0" y="6400800"/>
            <a:ext cx="1188720" cy="365760"/>
          </a:xfrm>
          <a:prstGeom prst="rect">
            <a:avLst/>
          </a:prstGeom>
          <a:noFill/>
        </p:spPr>
        <p:txBody>
          <a:bodyPr wrap="square" lIns="45720" rIns="45720">
            <a:spAutoFit/>
          </a:bodyPr>
          <a:lstStyle/>
          <a:p>
            <a:pPr algn="r">
              <a:defRPr sz="1000" b="0">
                <a:solidFill>
                  <a:srgbClr val="C8C8C8"/>
                </a:solidFill>
                <a:latin typeface="MS Gothic"/>
              </a:defRPr>
            </a:pPr>
            <a:r>
              <a:t>2 / 5</a:t>
            </a:r>
          </a:p>
        </p:txBody>
      </p:sp>
      <p:sp>
        <p:nvSpPr>
          <p:cNvPr id="5" name="TextBox 4"/>
          <p:cNvSpPr txBox="1"/>
          <p:nvPr/>
        </p:nvSpPr>
        <p:spPr>
          <a:xfrm>
            <a:off x="914400" y="1371600"/>
            <a:ext cx="10332720" cy="4389120"/>
          </a:xfrm>
          <a:prstGeom prst="rect">
            <a:avLst/>
          </a:prstGeom>
          <a:noFill/>
        </p:spPr>
        <p:txBody>
          <a:bodyPr wrap="square" lIns="45720" rIns="45720">
            <a:spAutoFit/>
          </a:bodyPr>
          <a:lstStyle/>
          <a:p>
            <a:pPr algn="l">
              <a:defRPr sz="1800" b="1">
                <a:solidFill>
                  <a:srgbClr val="102C57"/>
                </a:solidFill>
                <a:latin typeface="MS Gothic"/>
              </a:defRPr>
            </a:pPr>
            <a:r>
              <a:t>■ 専門分野と技術スキル</a:t>
            </a:r>
          </a:p>
          <a:p>
            <a:pPr>
              <a:spcBef>
                <a:spcPts val="1400"/>
              </a:spcBef>
              <a:defRPr sz="1400" b="0">
                <a:solidFill>
                  <a:srgbClr val="333333"/>
                </a:solidFill>
                <a:latin typeface="MS Gothic"/>
              </a:defRPr>
            </a:pPr>
            <a:r>
              <a:t>• プログラミング学習 (JavaScript, TypeScript, HTML/CSS)</a:t>
            </a:r>
          </a:p>
          <a:p>
            <a:pPr>
              <a:spcBef>
                <a:spcPts val="1400"/>
              </a:spcBef>
              <a:defRPr sz="1400" b="0">
                <a:solidFill>
                  <a:srgbClr val="333333"/>
                </a:solidFill>
                <a:latin typeface="MS Gothic"/>
              </a:defRPr>
            </a:pPr>
            <a:r>
              <a:t>• データベースの基礎と設計 (PostgreSQL, SQLリレーション)</a:t>
            </a:r>
          </a:p>
          <a:p>
            <a:pPr>
              <a:spcBef>
                <a:spcPts val="1400"/>
              </a:spcBef>
              <a:defRPr sz="1400" b="0">
                <a:solidFill>
                  <a:srgbClr val="333333"/>
                </a:solidFill>
                <a:latin typeface="MS Gothic"/>
              </a:defRPr>
            </a:pPr>
            <a:r>
              <a:t>• ネットワークの仕組みとセキュリティ (JWT認証, クッキー管理)</a:t>
            </a:r>
          </a:p>
          <a:p>
            <a:pPr>
              <a:spcBef>
                <a:spcPts val="1400"/>
              </a:spcBef>
              <a:defRPr sz="1400" b="0">
                <a:solidFill>
                  <a:srgbClr val="333333"/>
                </a:solidFill>
                <a:latin typeface="MS Gothic"/>
              </a:defRPr>
            </a:pPr>
            <a:r>
              <a:t>• Web開発 of 基本とバックエンドシステム構築</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365760"/>
            <a:ext cx="10332720" cy="731520"/>
          </a:xfrm>
          <a:prstGeom prst="rect">
            <a:avLst/>
          </a:prstGeom>
          <a:noFill/>
        </p:spPr>
        <p:txBody>
          <a:bodyPr wrap="square" lIns="45720" rIns="45720">
            <a:spAutoFit/>
          </a:bodyPr>
          <a:lstStyle/>
          <a:p>
            <a:pPr algn="l">
              <a:defRPr sz="2600" b="1">
                <a:solidFill>
                  <a:srgbClr val="102C57"/>
                </a:solidFill>
                <a:latin typeface="MS Gothic"/>
              </a:defRPr>
            </a:pPr>
            <a:r>
              <a:t>強み①：Webシステム開発力</a:t>
            </a:r>
          </a:p>
        </p:txBody>
      </p:sp>
      <p:sp>
        <p:nvSpPr>
          <p:cNvPr id="3" name="Rectangle 2"/>
          <p:cNvSpPr/>
          <p:nvPr/>
        </p:nvSpPr>
        <p:spPr>
          <a:xfrm>
            <a:off x="914400" y="1005840"/>
            <a:ext cx="10362895" cy="13716"/>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0" y="6400800"/>
            <a:ext cx="1188720" cy="365760"/>
          </a:xfrm>
          <a:prstGeom prst="rect">
            <a:avLst/>
          </a:prstGeom>
          <a:noFill/>
        </p:spPr>
        <p:txBody>
          <a:bodyPr wrap="square" lIns="45720" rIns="45720">
            <a:spAutoFit/>
          </a:bodyPr>
          <a:lstStyle/>
          <a:p>
            <a:pPr algn="r">
              <a:defRPr sz="1000" b="0">
                <a:solidFill>
                  <a:srgbClr val="C8C8C8"/>
                </a:solidFill>
                <a:latin typeface="MS Gothic"/>
              </a:defRPr>
            </a:pPr>
            <a:r>
              <a:t>3 / 5</a:t>
            </a:r>
          </a:p>
        </p:txBody>
      </p:sp>
      <p:sp>
        <p:nvSpPr>
          <p:cNvPr id="5" name="TextBox 4"/>
          <p:cNvSpPr txBox="1"/>
          <p:nvPr/>
        </p:nvSpPr>
        <p:spPr>
          <a:xfrm>
            <a:off x="914400" y="1371600"/>
            <a:ext cx="10332720" cy="4389120"/>
          </a:xfrm>
          <a:prstGeom prst="rect">
            <a:avLst/>
          </a:prstGeom>
          <a:noFill/>
        </p:spPr>
        <p:txBody>
          <a:bodyPr wrap="square" lIns="45720" rIns="45720">
            <a:spAutoFit/>
          </a:bodyPr>
          <a:lstStyle/>
          <a:p>
            <a:pPr algn="l">
              <a:defRPr sz="1800" b="1">
                <a:solidFill>
                  <a:srgbClr val="102C57"/>
                </a:solidFill>
                <a:latin typeface="MS Gothic"/>
              </a:defRPr>
            </a:pPr>
            <a:r>
              <a:t>■ コワーク（共同開発）でのシステム構築実績</a:t>
            </a:r>
          </a:p>
          <a:p>
            <a:pPr>
              <a:spcBef>
                <a:spcPts val="1400"/>
              </a:spcBef>
              <a:defRPr sz="1400" b="0">
                <a:solidFill>
                  <a:srgbClr val="333333"/>
                </a:solidFill>
                <a:latin typeface="MS Gothic"/>
              </a:defRPr>
            </a:pPr>
            <a:r>
              <a:t>• 飲食店口コミサイト『Mikka（ミッカ）』を一人で開発</a:t>
            </a:r>
          </a:p>
          <a:p>
            <a:pPr>
              <a:spcBef>
                <a:spcPts val="1400"/>
              </a:spcBef>
              <a:defRPr sz="1400" b="0">
                <a:solidFill>
                  <a:srgbClr val="333333"/>
                </a:solidFill>
                <a:latin typeface="MS Gothic"/>
              </a:defRPr>
            </a:pPr>
            <a:r>
              <a:t>  - Node.js, Fastify, TypeScript, PostgreSQLを使用した設計と実装</a:t>
            </a:r>
          </a:p>
          <a:p>
            <a:pPr>
              <a:spcBef>
                <a:spcPts val="1400"/>
              </a:spcBef>
              <a:defRPr sz="1400" b="0">
                <a:solidFill>
                  <a:srgbClr val="333333"/>
                </a:solidFill>
                <a:latin typeface="MS Gothic"/>
              </a:defRPr>
            </a:pPr>
            <a:r>
              <a:t>  - Leaflet.jsを用いたインタラクティブな店舗位置・地図連携機能</a:t>
            </a:r>
          </a:p>
          <a:p>
            <a:pPr>
              <a:spcBef>
                <a:spcPts val="1400"/>
              </a:spcBef>
              <a:defRPr sz="1400" b="0">
                <a:solidFill>
                  <a:srgbClr val="333333"/>
                </a:solidFill>
                <a:latin typeface="MS Gothic"/>
              </a:defRPr>
            </a:pPr>
            <a:r>
              <a:t>  - Google Gemini APIを組み込んだAIチャットボットによるレコメンド機能</a:t>
            </a:r>
          </a:p>
          <a:p>
            <a:pPr>
              <a:spcBef>
                <a:spcPts val="1400"/>
              </a:spcBef>
              <a:defRPr sz="1400" b="0">
                <a:solidFill>
                  <a:srgbClr val="333333"/>
                </a:solidFill>
                <a:latin typeface="MS Gothic"/>
              </a:defRPr>
            </a:pPr>
            <a:r>
              <a:t>  - bcryptjsによるパスワード保護とJWTによる安全な認証の実装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365760"/>
            <a:ext cx="10332720" cy="731520"/>
          </a:xfrm>
          <a:prstGeom prst="rect">
            <a:avLst/>
          </a:prstGeom>
          <a:noFill/>
        </p:spPr>
        <p:txBody>
          <a:bodyPr wrap="square" lIns="45720" rIns="45720">
            <a:spAutoFit/>
          </a:bodyPr>
          <a:lstStyle/>
          <a:p>
            <a:pPr algn="l">
              <a:defRPr sz="2600" b="1">
                <a:solidFill>
                  <a:srgbClr val="102C57"/>
                </a:solidFill>
                <a:latin typeface="MS Gothic"/>
              </a:defRPr>
            </a:pPr>
            <a:r>
              <a:t>強み②：デザイン実績 ＆ 日本語能力</a:t>
            </a:r>
          </a:p>
        </p:txBody>
      </p:sp>
      <p:sp>
        <p:nvSpPr>
          <p:cNvPr id="3" name="Rectangle 2"/>
          <p:cNvSpPr/>
          <p:nvPr/>
        </p:nvSpPr>
        <p:spPr>
          <a:xfrm>
            <a:off x="914400" y="1005840"/>
            <a:ext cx="10362895" cy="13716"/>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0" y="6400800"/>
            <a:ext cx="1188720" cy="365760"/>
          </a:xfrm>
          <a:prstGeom prst="rect">
            <a:avLst/>
          </a:prstGeom>
          <a:noFill/>
        </p:spPr>
        <p:txBody>
          <a:bodyPr wrap="square" lIns="45720" rIns="45720">
            <a:spAutoFit/>
          </a:bodyPr>
          <a:lstStyle/>
          <a:p>
            <a:pPr algn="r">
              <a:defRPr sz="1000" b="0">
                <a:solidFill>
                  <a:srgbClr val="C8C8C8"/>
                </a:solidFill>
                <a:latin typeface="MS Gothic"/>
              </a:defRPr>
            </a:pPr>
            <a:r>
              <a:t>4 / 5</a:t>
            </a:r>
          </a:p>
        </p:txBody>
      </p:sp>
      <p:sp>
        <p:nvSpPr>
          <p:cNvPr id="5" name="TextBox 4"/>
          <p:cNvSpPr txBox="1"/>
          <p:nvPr/>
        </p:nvSpPr>
        <p:spPr>
          <a:xfrm>
            <a:off x="914400" y="1371600"/>
            <a:ext cx="10332720" cy="4389120"/>
          </a:xfrm>
          <a:prstGeom prst="rect">
            <a:avLst/>
          </a:prstGeom>
          <a:noFill/>
        </p:spPr>
        <p:txBody>
          <a:bodyPr wrap="square" lIns="45720" rIns="45720">
            <a:spAutoFit/>
          </a:bodyPr>
          <a:lstStyle/>
          <a:p>
            <a:pPr algn="l">
              <a:defRPr sz="1800" b="1">
                <a:solidFill>
                  <a:srgbClr val="102C57"/>
                </a:solidFill>
                <a:latin typeface="MS Gothic"/>
              </a:defRPr>
            </a:pPr>
            <a:r>
              <a:t>■ 多文化環境におけるコミュニケーション能力の実績</a:t>
            </a:r>
          </a:p>
          <a:p>
            <a:pPr>
              <a:spcBef>
                <a:spcPts val="1400"/>
              </a:spcBef>
              <a:defRPr sz="1400" b="0">
                <a:solidFill>
                  <a:srgbClr val="333333"/>
                </a:solidFill>
                <a:latin typeface="MS Gothic"/>
              </a:defRPr>
            </a:pPr>
            <a:r>
              <a:t>• 日本向けTシャツのグラフィックデザイン実務経験</a:t>
            </a:r>
          </a:p>
          <a:p>
            <a:pPr>
              <a:spcBef>
                <a:spcPts val="1400"/>
              </a:spcBef>
              <a:defRPr sz="1400" b="0">
                <a:solidFill>
                  <a:srgbClr val="333333"/>
                </a:solidFill>
                <a:latin typeface="MS Gothic"/>
              </a:defRPr>
            </a:pPr>
            <a:r>
              <a:t>  - 日本のパートナーと日本語でやり取りし、1,000件以上のデザインを制作</a:t>
            </a:r>
          </a:p>
          <a:p>
            <a:pPr>
              <a:spcBef>
                <a:spcPts val="1400"/>
              </a:spcBef>
              <a:defRPr sz="1400" b="0">
                <a:solidFill>
                  <a:srgbClr val="333333"/>
                </a:solidFill>
                <a:latin typeface="MS Gothic"/>
              </a:defRPr>
            </a:pPr>
            <a:r>
              <a:t>• 日本語での高いコミュニケーション力</a:t>
            </a:r>
          </a:p>
          <a:p>
            <a:pPr>
              <a:spcBef>
                <a:spcPts val="1400"/>
              </a:spcBef>
              <a:defRPr sz="1400" b="0">
                <a:solidFill>
                  <a:srgbClr val="333333"/>
                </a:solidFill>
                <a:latin typeface="MS Gothic"/>
              </a:defRPr>
            </a:pPr>
            <a:r>
              <a:t>  - 日本語能力試験（JLPT）N3合格 (現在N2の勉強を進めています)</a:t>
            </a:r>
          </a:p>
          <a:p>
            <a:pPr>
              <a:spcBef>
                <a:spcPts val="1400"/>
              </a:spcBef>
              <a:defRPr sz="1400" b="0">
                <a:solidFill>
                  <a:srgbClr val="333333"/>
                </a:solidFill>
                <a:latin typeface="MS Gothic"/>
              </a:defRPr>
            </a:pPr>
            <a:r>
              <a:t>• 日本語教師としての指導経験</a:t>
            </a:r>
          </a:p>
          <a:p>
            <a:pPr>
              <a:spcBef>
                <a:spcPts val="1400"/>
              </a:spcBef>
              <a:defRPr sz="1400" b="0">
                <a:solidFill>
                  <a:srgbClr val="333333"/>
                </a:solidFill>
                <a:latin typeface="MS Gothic"/>
              </a:defRPr>
            </a:pPr>
            <a:r>
              <a:t>  - 他校で20名以上の学生に日本語(N5レベル)を指導</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365760"/>
            <a:ext cx="10332720" cy="731520"/>
          </a:xfrm>
          <a:prstGeom prst="rect">
            <a:avLst/>
          </a:prstGeom>
          <a:noFill/>
        </p:spPr>
        <p:txBody>
          <a:bodyPr wrap="square" lIns="45720" rIns="45720">
            <a:spAutoFit/>
          </a:bodyPr>
          <a:lstStyle/>
          <a:p>
            <a:pPr algn="l">
              <a:defRPr sz="2600" b="1">
                <a:solidFill>
                  <a:srgbClr val="102C57"/>
                </a:solidFill>
                <a:latin typeface="MS Gothic"/>
              </a:defRPr>
            </a:pPr>
            <a:r>
              <a:t>ご清聴ありがとうございました</a:t>
            </a:r>
          </a:p>
        </p:txBody>
      </p:sp>
      <p:sp>
        <p:nvSpPr>
          <p:cNvPr id="3" name="Rectangle 2"/>
          <p:cNvSpPr/>
          <p:nvPr/>
        </p:nvSpPr>
        <p:spPr>
          <a:xfrm>
            <a:off x="914400" y="1005840"/>
            <a:ext cx="10362895" cy="13716"/>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0" y="6400800"/>
            <a:ext cx="1188720" cy="365760"/>
          </a:xfrm>
          <a:prstGeom prst="rect">
            <a:avLst/>
          </a:prstGeom>
          <a:noFill/>
        </p:spPr>
        <p:txBody>
          <a:bodyPr wrap="square" lIns="45720" rIns="45720">
            <a:spAutoFit/>
          </a:bodyPr>
          <a:lstStyle/>
          <a:p>
            <a:pPr algn="r">
              <a:defRPr sz="1000" b="0">
                <a:solidFill>
                  <a:srgbClr val="C8C8C8"/>
                </a:solidFill>
                <a:latin typeface="MS Gothic"/>
              </a:defRPr>
            </a:pPr>
            <a:r>
              <a:t>5 / 5</a:t>
            </a:r>
          </a:p>
        </p:txBody>
      </p:sp>
      <p:sp>
        <p:nvSpPr>
          <p:cNvPr id="5" name="TextBox 4"/>
          <p:cNvSpPr txBox="1"/>
          <p:nvPr/>
        </p:nvSpPr>
        <p:spPr>
          <a:xfrm>
            <a:off x="914400" y="1371600"/>
            <a:ext cx="10332720" cy="4389120"/>
          </a:xfrm>
          <a:prstGeom prst="rect">
            <a:avLst/>
          </a:prstGeom>
          <a:noFill/>
        </p:spPr>
        <p:txBody>
          <a:bodyPr wrap="square" lIns="45720" rIns="45720">
            <a:spAutoFit/>
          </a:bodyPr>
          <a:lstStyle/>
          <a:p>
            <a:pPr algn="l">
              <a:defRPr sz="1800" b="1">
                <a:solidFill>
                  <a:srgbClr val="102C57"/>
                </a:solidFill>
                <a:latin typeface="MS Gothic"/>
              </a:defRPr>
            </a:pPr>
            <a:r>
              <a:t>■ 本日のまとめとお礼</a:t>
            </a:r>
          </a:p>
          <a:p>
            <a:pPr>
              <a:spcBef>
                <a:spcPts val="1400"/>
              </a:spcBef>
              <a:defRPr sz="1400" b="0">
                <a:solidFill>
                  <a:srgbClr val="333333"/>
                </a:solidFill>
                <a:latin typeface="MS Gothic"/>
              </a:defRPr>
            </a:pPr>
            <a:r>
              <a:t>• お忙しい中、自己紹介の貴重なお時間をいただき本当にありがとうございました。</a:t>
            </a:r>
          </a:p>
          <a:p>
            <a:pPr>
              <a:spcBef>
                <a:spcPts val="1400"/>
              </a:spcBef>
              <a:defRPr sz="1400" b="0">
                <a:solidFill>
                  <a:srgbClr val="333333"/>
                </a:solidFill>
                <a:latin typeface="MS Gothic"/>
              </a:defRPr>
            </a:pPr>
            <a:r>
              <a:t>• これまで学んだ技術と多文化経験を活かし、チームの力になります。</a:t>
            </a:r>
          </a:p>
          <a:p>
            <a:pPr>
              <a:spcBef>
                <a:spcPts val="1400"/>
              </a:spcBef>
              <a:defRPr sz="1400" b="0">
                <a:solidFill>
                  <a:srgbClr val="333333"/>
                </a:solidFill>
                <a:latin typeface="MS Gothic"/>
              </a:defRPr>
            </a:pPr>
            <a:r>
              <a:t>• 連絡先メールアドレス: abdullayevjavlon720@gmail.com</a:t>
            </a:r>
          </a:p>
          <a:p>
            <a:pPr>
              <a:spcBef>
                <a:spcPts val="1400"/>
              </a:spcBef>
              <a:defRPr sz="1400" b="0">
                <a:solidFill>
                  <a:srgbClr val="333333"/>
                </a:solidFill>
                <a:latin typeface="MS Gothic"/>
              </a:defRPr>
            </a:pPr>
            <a:r>
              <a:t>• 氏名: アブドゥラエフ・ジャブロン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